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kumparan.com/kumparanbisnis/bps-jumlah-umkm-di-indonesia-capai-59-juta-usaha-tahun-2023-27RlwHS7zg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731520"/>
            <a:ext cx="3657600" cy="3657600"/>
          </a:xfrm>
          <a:prstGeom prst="ellipse">
            <a:avLst/>
          </a:prstGeom>
          <a:solidFill>
            <a:srgbClr val="818CF8">
              <a:alpha val="8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59436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spc="8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LOQA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Data. Your Device. Your Decision.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AI Business OS untuk UMKM Indonesia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 · Affordable by intention · Intelligent by default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3182112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18211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AI Business OS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71800" y="3182112"/>
            <a:ext cx="2578608" cy="256032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31821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Partnership · Genesis.ceo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06440" y="3182112"/>
            <a:ext cx="2395728" cy="256032"/>
          </a:xfrm>
          <a:prstGeom prst="roundRect">
            <a:avLst>
              <a:gd name="adj" fmla="val 50000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31821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Launch: Agustus 2026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547872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566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Jt+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3968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Indonesia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87752" y="3547872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87752" y="3566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87752" y="3968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Terintegrasi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72584" y="3547872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72584" y="3566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72584" y="3968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· Nol Cloud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57416" y="3547872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57416" y="3566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57416" y="3968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API Berkelanjutan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2026  ·  Submission ke Genesis.ceo  ·  hsbdeveloper97@gmail.com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 Paradox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315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Juta UMKM Indonesia memiliki data bisnis — tapi tidak punya cara cerdas untuk menggunakannya.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097280"/>
            <a:ext cx="2651760" cy="1627632"/>
          </a:xfrm>
          <a:prstGeom prst="roundRect">
            <a:avLst>
              <a:gd name="adj" fmla="val 6742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" y="1170432"/>
            <a:ext cx="2322576" cy="219456"/>
          </a:xfrm>
          <a:prstGeom prst="roundRect">
            <a:avLst>
              <a:gd name="adj" fmla="val 29167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17043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HAMBATAN FINANC.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72" y="144475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Terlalu Mahal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173736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junior data analyst Rp 5–10 Juta/bulan — jauh di luar jangkauan UMKM. Keputusan bisnis diambil berdasarkan insting, bukan data.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27832" y="1097280"/>
            <a:ext cx="2651760" cy="1627632"/>
          </a:xfrm>
          <a:prstGeom prst="roundRect">
            <a:avLst>
              <a:gd name="adj" fmla="val 6742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92424" y="1170432"/>
            <a:ext cx="2322576" cy="219456"/>
          </a:xfrm>
          <a:prstGeom prst="roundRect">
            <a:avLst>
              <a:gd name="adj" fmla="val 29167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117043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KEDAULATAN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92424" y="144475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Privasi &amp; Vendor Lock-in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92424" y="173736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ERP cloud memaksa UMKM menyerahkan data keuangan ke server eksternal. Risiko kebocoran, ketergantungan vendor, dan biaya yang terus meningkat.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44184" y="1097280"/>
            <a:ext cx="2651760" cy="1627632"/>
          </a:xfrm>
          <a:prstGeom prst="roundRect">
            <a:avLst>
              <a:gd name="adj" fmla="val 6742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1170432"/>
            <a:ext cx="2322576" cy="219456"/>
          </a:xfrm>
          <a:prstGeom prst="roundRect">
            <a:avLst>
              <a:gd name="adj" fmla="val 29167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1170432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KESENJANGAN SISTEM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08776" y="144475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Fragmentasi Alat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8776" y="173736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(POS), gudang, dan keuangan berjalan di aplikasi terpisah. Tidak ada sistem tunggal yang menghasilkan insight otomatis dari semua data operasional.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2834640"/>
            <a:ext cx="8321040" cy="1051560"/>
          </a:xfrm>
          <a:prstGeom prst="roundRect">
            <a:avLst>
              <a:gd name="adj" fmla="val 10435"/>
            </a:avLst>
          </a:prstGeom>
          <a:solidFill>
            <a:srgbClr val="0D1628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907792"/>
            <a:ext cx="79552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B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butuh satu sistem yang bisa menjawab: "Berapa laba saya bulan ini?", "Stok mana yang hampir habis?", "Di mana uang saya bocor?" — langsung dari data mereka sendiri, tanpa analis, tanpa cloud, tanpa biaya bulanan yang mencekik.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AI Business 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04672"/>
            <a:ext cx="4069080" cy="1280160"/>
          </a:xfrm>
          <a:prstGeom prst="roundRect">
            <a:avLst>
              <a:gd name="adj" fmla="val 8571"/>
            </a:avLst>
          </a:prstGeom>
          <a:solidFill>
            <a:srgbClr val="0D1628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8778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Desktop Native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170432"/>
            <a:ext cx="3703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desktop (Windows, macOS, Linux) dibungkus runtime ringan Tauri dengan backend Python FastAPI. Performa native, instalasi semudah aplikasi biasa.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069080" cy="1280160"/>
          </a:xfrm>
          <a:prstGeom prst="roundRect">
            <a:avLst>
              <a:gd name="adj" fmla="val 8571"/>
            </a:avLst>
          </a:prstGeom>
          <a:solidFill>
            <a:srgbClr val="0D1628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8778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Kedaulatan Data Mutlak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703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proses — pembukuan, stok, inferensi AI — berjalan 100% di perangkat pengguna. Tidak butuh internet setelah aktivasi. Data tidak pernah keluar.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176272"/>
            <a:ext cx="8321040" cy="1143000"/>
          </a:xfrm>
          <a:prstGeom prst="roundRect">
            <a:avLst>
              <a:gd name="adj" fmla="val 9600"/>
            </a:avLst>
          </a:prstGeom>
          <a:solidFill>
            <a:srgbClr val="0D1628"/>
          </a:solidFill>
          <a:ln w="12700">
            <a:solidFill>
              <a:srgbClr val="2DD4B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2311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 Pribadi via Tool Calling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523744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LOQA tidak hanya menjawab teks — ia memanggil tools internal secara langsung: query keuangan, cek stok, lihat riwayat order. Jawaban berbasis data nyata pengguna, bukan generasi teks acak. Nol halusinasi. Nol biaya API per query.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419856"/>
            <a:ext cx="2651760" cy="896112"/>
          </a:xfrm>
          <a:prstGeom prst="roundRect">
            <a:avLst>
              <a:gd name="adj" fmla="val 12245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456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3858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berjalan di device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27832" y="3419856"/>
            <a:ext cx="2651760" cy="896112"/>
          </a:xfrm>
          <a:prstGeom prst="roundRect">
            <a:avLst>
              <a:gd name="adj" fmla="val 12245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27832" y="3456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27832" y="3858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tidak pernah keluar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44184" y="3419856"/>
            <a:ext cx="2651760" cy="896112"/>
          </a:xfrm>
          <a:prstGeom prst="roundRect">
            <a:avLst>
              <a:gd name="adj" fmla="val 12245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44184" y="3456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Cerdas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44184" y="3858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Tools-based, bukan RAG generik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Multi-Database Intelligence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315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LOQA menjawab tanpa halusinasi karena setiap domain data distrukturkan secara terpisah dan diakses via tool calling — bukan inferensi teks semata.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097280"/>
            <a:ext cx="2651760" cy="1444752"/>
          </a:xfrm>
          <a:prstGeom prst="roundRect">
            <a:avLst>
              <a:gd name="adj" fmla="val 7595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Akuntansi multi-akun, arus kas harian, laporan P&amp;L otomatis (Pendapatan → HPP → Beban → Laba Bersih), KPI real-time.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1097280"/>
            <a:ext cx="2651760" cy="1444752"/>
          </a:xfrm>
          <a:prstGeom prst="roundRect">
            <a:avLst>
              <a:gd name="adj" fmla="val 7595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0712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1463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multi-gudang dengan HPP (FIFO / Average / Fixed Cost). Setiap pergerakan stok tersinkron otomatis ke transaksi keuangan.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44184" y="1097280"/>
            <a:ext cx="2651760" cy="1444752"/>
          </a:xfrm>
          <a:prstGeom prst="roundRect">
            <a:avLst>
              <a:gd name="adj" fmla="val 7595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27064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27064" y="1463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— scan barcode, checkout, riwayat order. Setiap checkout langsung memotong stok dan mencatat income.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65176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715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project.db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29900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proyek kontrak: RAB, upah pekerja, dan invoice — semua terhubung ke finance.db. Untuk bisnis berbasis jasa.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6517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0D1628"/>
          </a:solidFill>
          <a:ln w="12700">
            <a:solidFill>
              <a:srgbClr val="2DD4B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Workspace RAG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9900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di modul Workspace untuk menjawab pertanyaan dari dokumen yang diunggah pengguna (PDF, DOCX, TXT) secara lokal. AI Chat utama beroperasi via tool calling ke data terstruktur.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675888"/>
            <a:ext cx="8321040" cy="594360"/>
          </a:xfrm>
          <a:prstGeom prst="roundRect">
            <a:avLst>
              <a:gd name="adj" fmla="val 18462"/>
            </a:avLst>
          </a:prstGeom>
          <a:solidFill>
            <a:srgbClr val="0D1628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7307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Arsitektur: Setiap domain database terstruktur secara terpisah → AI Engine mengaksesnya via tool calling dengan presisi → Saran bisnis berbasis data nyata, bukan generasi teks random.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 Utama — Operasional Total (1/2)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04672"/>
            <a:ext cx="4069080" cy="2011680"/>
          </a:xfrm>
          <a:prstGeom prst="roundRect">
            <a:avLst>
              <a:gd name="adj" fmla="val 5455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877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Chat + Tool Calling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langsung ke data bisnis: "Berapa laba bulan ini?", "Stok A tinggal berapa?"</a:t>
            </a:r>
            <a:endParaRPr lang="en-US" sz="950" dirty="0"/>
          </a:p>
          <a:p>
            <a:pPr marL="127000" indent="-127000">
              <a:lnSpc>
                <a:spcPct val="15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memanggil tools internal (finance, inventory, order) — menjawab dari data nyata, nol halusinasi.</a:t>
            </a:r>
            <a:endParaRPr lang="en-US" sz="950" dirty="0"/>
          </a:p>
          <a:p>
            <a:pPr marL="127000" indent="-127000">
              <a:lnSpc>
                <a:spcPct val="15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lokal via llama-cpp-python. Support provider cloud (OpenAI, Gemini) sebagai opsi.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069080" cy="2011680"/>
          </a:xfrm>
          <a:prstGeom prst="roundRect">
            <a:avLst>
              <a:gd name="adj" fmla="val 5455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877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Finance &amp; Accounting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multi-akun dengan ikon &amp; warna kustom.</a:t>
            </a:r>
            <a:endParaRPr lang="en-US" sz="950" dirty="0"/>
          </a:p>
          <a:p>
            <a:pPr marL="127000" indent="-127000">
              <a:lnSpc>
                <a:spcPct val="15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Pocket: Kelompokkan dana bertujuan dengan PIN rahasia per pocket.</a:t>
            </a:r>
            <a:endParaRPr lang="en-US" sz="950" dirty="0"/>
          </a:p>
          <a:p>
            <a:pPr marL="127000" indent="-127000">
              <a:lnSpc>
                <a:spcPct val="15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P&amp;L: Pendapatan Kotor, HPP, Beban Operasional, Laba Bersih otomatis.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07792"/>
            <a:ext cx="8321040" cy="1371600"/>
          </a:xfrm>
          <a:prstGeom prst="roundRect">
            <a:avLst>
              <a:gd name="adj" fmla="val 8000"/>
            </a:avLst>
          </a:prstGeom>
          <a:solidFill>
            <a:srgbClr val="0D1628"/>
          </a:solidFill>
          <a:ln w="12700">
            <a:solidFill>
              <a:srgbClr val="2DD4B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9809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Inventori &amp; Manajemen Gudang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Pelacakan presisi: Produk &amp; Varian (gambar / SKU / satuan / merek), Multi-Gudang, metode HPP (FIFO / Average / Fixed Cost), import massal via CSV dengan log sukses/gagal per baris. Setiap pergerakan stok otomatis tersinkron ke modul keuangan — satu sumber kebenaran untuk HPP dan margin.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 Utama — Operasional Total (2/2)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04672"/>
            <a:ext cx="4069080" cy="1828800"/>
          </a:xfrm>
          <a:prstGeom prst="roundRect">
            <a:avLst>
              <a:gd name="adj" fmla="val 6000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8961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 / Order (Kasir)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170432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barcode / SKU, tambah ke cart, checkout cepat.</a:t>
            </a:r>
            <a:endParaRPr lang="en-US" sz="95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Kalkulator kembalian uang tunai otomatis.</a:t>
            </a:r>
            <a:endParaRPr lang="en-US" sz="95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checkout memotong stok dan mencatat income secara real-time.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069080" cy="1828800"/>
          </a:xfrm>
          <a:prstGeom prst="roundRect">
            <a:avLst>
              <a:gd name="adj" fmla="val 6000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8961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Analytics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tren bisnis lokal — grafik pendapatan, pengeluaran, performa kategori.</a:t>
            </a:r>
            <a:endParaRPr lang="en-US" sz="95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stok, laporan P&amp;L bulanan, dan cashflow harian dalam satu layar.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43200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8346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Workspace &amp; Knowledge 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dokumen (PDF, DOCX, TXT) dan tanya isinya via RAG lokal (ChromaDB). Catatan Markdown berstruktur folder + riwayat chat tersimpan — semua di perangkat sendiri, nol cloud.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8346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Command Settings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1089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provider AI (Lokal GGUF / Ollama / Gemini / OpenAI), migrasi SQLite → PostgreSQL, tema gelap/terang, PIN Lock keamanan data, konfigurasi ekosistem penuh.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Product Strategy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produk, satu codebase — menjangkau segmen personal dan bisnis tanpa redundansi pengembangan.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051560"/>
            <a:ext cx="8321040" cy="457200"/>
          </a:xfrm>
          <a:prstGeom prst="roundRect">
            <a:avLst>
              <a:gd name="adj" fmla="val 24000"/>
            </a:avLst>
          </a:prstGeom>
          <a:solidFill>
            <a:srgbClr val="071020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1051560"/>
            <a:ext cx="3694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&amp; Modul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16552" y="105156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LOQA Home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(Personal)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02552" y="105156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LOQA Work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(Bisnis / UMKM)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508760"/>
            <a:ext cx="8321040" cy="420624"/>
          </a:xfrm>
          <a:prstGeom prst="rect">
            <a:avLst/>
          </a:prstGeom>
          <a:solidFill>
            <a:srgbClr val="0A1525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5087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+ Tool Calling (Data Lokal)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43400" y="150876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150876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1929384"/>
            <a:ext cx="8321040" cy="420624"/>
          </a:xfrm>
          <a:prstGeom prst="rect">
            <a:avLst/>
          </a:prstGeom>
          <a:solidFill>
            <a:srgbClr val="071020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92938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(Knowledge Base RAG + Notes)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43400" y="192938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192938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2350008"/>
            <a:ext cx="8321040" cy="420624"/>
          </a:xfrm>
          <a:prstGeom prst="rect">
            <a:avLst/>
          </a:prstGeom>
          <a:solidFill>
            <a:srgbClr val="0A1525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235000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Keuangan Dasar &amp; Analytics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43400" y="235000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235000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" y="2770632"/>
            <a:ext cx="8321040" cy="420624"/>
          </a:xfrm>
          <a:prstGeom prst="rect">
            <a:avLst/>
          </a:prstGeom>
          <a:solidFill>
            <a:srgbClr val="071020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277063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Konfigurasi Ekosistem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43400" y="277063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277063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1480" y="3191256"/>
            <a:ext cx="8321040" cy="420624"/>
          </a:xfrm>
          <a:prstGeom prst="rect">
            <a:avLst/>
          </a:prstGeom>
          <a:solidFill>
            <a:srgbClr val="0A1525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19125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Finansial Komprehensif (P&amp;L)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43400" y="319125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29400" y="319125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11480" y="3611880"/>
            <a:ext cx="8321040" cy="420624"/>
          </a:xfrm>
          <a:prstGeom prst="rect">
            <a:avLst/>
          </a:prstGeom>
          <a:solidFill>
            <a:srgbClr val="071020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36118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Inventori Multi-Gudang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43400" y="36118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29400" y="36118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11480" y="4032504"/>
            <a:ext cx="8321040" cy="420624"/>
          </a:xfrm>
          <a:prstGeom prst="rect">
            <a:avLst/>
          </a:prstGeom>
          <a:solidFill>
            <a:srgbClr val="0A1525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403250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(POS) / Sistem Kasir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343400" y="403250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29400" y="403250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11480" y="4453128"/>
            <a:ext cx="8321040" cy="420624"/>
          </a:xfrm>
          <a:prstGeom prst="rect">
            <a:avLst/>
          </a:prstGeom>
          <a:solidFill>
            <a:srgbClr val="071020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4531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Proyek &amp; Invoice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43400" y="44531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629400" y="44531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&amp; Keunggulan Kompetitif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LOQA bukan sekadar "lebih murah" — ia bermain di kategori yang belum ada pemain dominannya.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solidFill>
            <a:srgbClr val="071020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10241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55264" y="102412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/ Offline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09744" y="102412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72784" y="10241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Finance+Inv+POS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644384" y="10241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UMKM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1408176"/>
            <a:ext cx="8321040" cy="420624"/>
          </a:xfrm>
          <a:prstGeom prst="rect">
            <a:avLst/>
          </a:prstGeom>
          <a:solidFill>
            <a:srgbClr val="0A1525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140817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Oracle ERP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55264" y="1408176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9744" y="1408176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2784" y="140817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44384" y="140817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5–50 Jt/tahun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1828800"/>
            <a:ext cx="8321040" cy="420624"/>
          </a:xfrm>
          <a:prstGeom prst="rect">
            <a:avLst/>
          </a:prstGeom>
          <a:solidFill>
            <a:srgbClr val="071020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182880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/ Accurate Online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55264" y="182880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9744" y="182880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72784" y="18288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44384" y="182880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800rb–2 Jt/bln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249424"/>
            <a:ext cx="8321040" cy="420624"/>
          </a:xfrm>
          <a:prstGeom prst="rect">
            <a:avLst/>
          </a:prstGeom>
          <a:solidFill>
            <a:srgbClr val="0A1525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" y="22494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Mekari / Majoo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55264" y="224942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9744" y="224942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2784" y="224942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44384" y="224942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300rb–1 Jt/bln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2670048"/>
            <a:ext cx="8321040" cy="420624"/>
          </a:xfrm>
          <a:prstGeom prst="rect">
            <a:avLst/>
          </a:prstGeom>
          <a:solidFill>
            <a:srgbClr val="071020"/>
          </a:solidFill>
          <a:ln w="6350">
            <a:solidFill>
              <a:srgbClr val="1E2D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" y="267004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55264" y="267004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9744" y="267004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72784" y="267004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44384" y="267004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300rb/bln + risk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3090672"/>
            <a:ext cx="8321040" cy="475488"/>
          </a:xfrm>
          <a:prstGeom prst="roundRect">
            <a:avLst>
              <a:gd name="adj" fmla="val 23077"/>
            </a:avLst>
          </a:prstGeom>
          <a:solidFill>
            <a:srgbClr val="0D1628"/>
          </a:solidFill>
          <a:ln w="12700">
            <a:solidFill>
              <a:srgbClr val="2DD4B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6344" y="30906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LOQA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55264" y="30906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9744" y="309067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72784" y="309067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Terintegrasi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644384" y="309067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Rp 99rb/bln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3840480"/>
            <a:ext cx="8321040" cy="594360"/>
          </a:xfrm>
          <a:prstGeom prst="roundRect">
            <a:avLst>
              <a:gd name="adj" fmla="val 18462"/>
            </a:avLst>
          </a:prstGeom>
          <a:solidFill>
            <a:srgbClr val="0D1628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94360" y="3895344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 yang LOQA isi: belum ada solusi yang menggabungkan AI analyst lokal, sistem keuangan terintegrasi, inventori multi-gudang, dan POS — dalam satu aplikasi offline — dengan harga yang bisa dijangkau UMKM.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Scale &amp; Monetisasi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04672"/>
            <a:ext cx="4069080" cy="2148840"/>
          </a:xfrm>
          <a:prstGeom prst="roundRect">
            <a:avLst>
              <a:gd name="adj" fmla="val 5106"/>
            </a:avLst>
          </a:prstGeom>
          <a:solidFill>
            <a:srgbClr val="0D1628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8778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Proyeksi Nasional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170432"/>
            <a:ext cx="3703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59 Juta UMKM terdaftar (BPS, 2023 — kumparan.com)</a:t>
            </a:r>
            <a:endParaRPr lang="en-US" sz="95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SAM: ~8 Juta UMKM klaster digital &amp; melek teknologi</a:t>
            </a:r>
            <a:endParaRPr lang="en-US" sz="95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(Y1–Y3): 50.000 user berbayar aktif (Pro Plan)</a:t>
            </a:r>
            <a:endParaRPr lang="en-US" sz="95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ARR: Rp 24 Miliar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069080" cy="2148840"/>
          </a:xfrm>
          <a:prstGeom prst="roundRect">
            <a:avLst>
              <a:gd name="adj" fmla="val 5106"/>
            </a:avLst>
          </a:prstGeom>
          <a:solidFill>
            <a:srgbClr val="0D1628"/>
          </a:solidFill>
          <a:ln w="12700">
            <a:solidFill>
              <a:srgbClr val="2DD4B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8778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Disruptive Pricing — Per Device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703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— Rp 49.000/bln: LOQA Home · 1 Device (Personal)</a:t>
            </a:r>
            <a:endParaRPr lang="en-US" sz="95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— Rp 99.000/bln: Home + Work · 1 Device</a:t>
            </a:r>
            <a:endParaRPr lang="en-US" sz="95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— Rp 299.000/bln: Home + Work · 5 Device</a:t>
            </a:r>
            <a:endParaRPr lang="en-US" sz="95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License: Bayar sekali, pakai selamanya — strategi meruntuhkan keraguan UMKM.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Jt+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UMKM Nasional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96312" y="30632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96312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Jt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496312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Digital UMKM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81144" y="30632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81144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81144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Target Y1–Y3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65976" y="30632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65976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24M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65976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ARR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6634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 TAM: BPS RI (2023) — 30,2 Jt UMKM non-pertanian + 29 Jt UMKM pertanian (Sensus Pertanian 2023)</a:t>
            </a:r>
            <a:endParaRPr lang="en-US" sz="750" dirty="0"/>
          </a:p>
        </p:txBody>
      </p:sp>
      <p:sp>
        <p:nvSpPr>
          <p:cNvPr id="27" name="Text 25">
            <a:hlinkClick r:id="rId1" tooltip=""/>
          </p:cNvPr>
          <p:cNvSpPr/>
          <p:nvPr/>
        </p:nvSpPr>
        <p:spPr>
          <a:xfrm>
            <a:off x="411480" y="484632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4A5F7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kumparan.com/kumparanbisnis/bps-jumlah-umkm-di-indonesia-capai-59-juta-usaha-tahun-2023-27RlwHS7zgi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Status Saat Ini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04672"/>
            <a:ext cx="4069080" cy="2148840"/>
          </a:xfrm>
          <a:prstGeom prst="roundRect">
            <a:avLst>
              <a:gd name="adj" fmla="val 5106"/>
            </a:avLst>
          </a:prstGeom>
          <a:solidFill>
            <a:srgbClr val="0D1628"/>
          </a:solidFill>
          <a:ln w="12700">
            <a:solidFill>
              <a:srgbClr val="2DD4B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8778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Dibangun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170432"/>
            <a:ext cx="3703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aplikasi lengkap: LOQA Home (personal) dan LOQA Work (bisnis)</a:t>
            </a:r>
            <a:endParaRPr lang="en-US" sz="950" dirty="0"/>
          </a:p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 utama: Chat AI, Finance, Inventory, POS, Project, Analytics, Workspace</a:t>
            </a:r>
            <a:endParaRPr lang="en-US" sz="950" dirty="0"/>
          </a:p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Multi-database terintegrasi (finance, inventory, order, project, chromadb)</a:t>
            </a:r>
            <a:endParaRPr lang="en-US" sz="950" dirty="0"/>
          </a:p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wrapper Tauri — build target Windows, macOS, Linux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069080" cy="2148840"/>
          </a:xfrm>
          <a:prstGeom prst="roundRect">
            <a:avLst>
              <a:gd name="adj" fmla="val 5106"/>
            </a:avLst>
          </a:prstGeom>
          <a:solidFill>
            <a:srgbClr val="0D1628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8778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Aktif — Juni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703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dashboard &amp; modul insight bisnis</a:t>
            </a:r>
            <a:endParaRPr lang="en-US" sz="950" dirty="0"/>
          </a:p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Finalisasi &amp; pelengkapan fitur yang masih dalam pengembangan</a:t>
            </a:r>
            <a:endParaRPr lang="en-US" sz="950" dirty="0"/>
          </a:p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security key &amp; sistem lisensi aktivasi offline</a:t>
            </a:r>
            <a:endParaRPr lang="en-US" sz="950" dirty="0"/>
          </a:p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deployment — target siap digunakan pengguna awal Juli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Lengkap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96312" y="30632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96312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496312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Utama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81144" y="30632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81144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81144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Terstruktur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65976" y="30632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65976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 '26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65976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Pengguna Pertama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&amp; Tata Kelola Kepemilikan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480" y="804672"/>
            <a:ext cx="4069080" cy="1481328"/>
          </a:xfrm>
          <a:prstGeom prst="roundRect">
            <a:avLst>
              <a:gd name="adj" fmla="val 7407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76072" y="987552"/>
            <a:ext cx="47548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050B1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61288" y="9875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Hasbi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1188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61288" y="1353312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67912" y="1005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" y="159105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ekosistem dari nol sebelum tim terbentuk. Background: OMS &amp; WMS enterprise (voila.id / Catalyst Tech), WMS (Crewdible), multi-channel (Forstok). Pelopor LLM agent internal korporat.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804672"/>
            <a:ext cx="4069080" cy="1481328"/>
          </a:xfrm>
          <a:prstGeom prst="roundRect">
            <a:avLst>
              <a:gd name="adj" fmla="val 7407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28032" y="98755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50B1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28032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13248" y="9875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13248" y="1188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Engineering &amp; Security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13248" y="1353312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19872" y="1005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8032" y="159105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keamanan data, pengembangan infrastruktur web, dan strategi subscription. Kontribusi aktif di semua fase.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395728"/>
            <a:ext cx="4069080" cy="1481328"/>
          </a:xfrm>
          <a:prstGeom prst="roundRect">
            <a:avLst>
              <a:gd name="adj" fmla="val 7407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76072" y="2578608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0B1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6072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61288" y="2578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1288" y="27797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Data &amp; Analytics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61288" y="2944368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67912" y="25968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76072" y="318211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Strukturisasi analitik visual, menyusun dashboard tren, dan penarikan insight bisnis. Nilai kontribusi tumbuh seiring data berkembang.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395728"/>
            <a:ext cx="4069080" cy="1481328"/>
          </a:xfrm>
          <a:prstGeom prst="roundRect">
            <a:avLst>
              <a:gd name="adj" fmla="val 7407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828032" y="2578608"/>
            <a:ext cx="475488" cy="475488"/>
          </a:xfrm>
          <a:prstGeom prst="ellipse">
            <a:avLst/>
          </a:prstGeom>
          <a:solidFill>
            <a:srgbClr val="BE185D"/>
          </a:solidFill>
          <a:ln w="12700">
            <a:solidFill>
              <a:srgbClr val="050B1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28032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13248" y="2578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Mahmud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13248" y="27797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Product &amp; UX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13248" y="2944368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Visionary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19872" y="25968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28032" y="318211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taktis UI/UX, alur pengguna, riset prinsip desain, dan strategi launching. Jembatan antara produk teknis dan pengguna awam, serta QA &amp; testing produk sebelum release.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3986784"/>
            <a:ext cx="8321040" cy="475488"/>
          </a:xfrm>
          <a:prstGeom prst="roundRect">
            <a:avLst>
              <a:gd name="adj" fmla="val 23077"/>
            </a:avLst>
          </a:prstGeom>
          <a:solidFill>
            <a:srgbClr val="0D1628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4360" y="40416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Vesting 4 tahun dengan cliff 1 tahun — melindungi semua pihak. Semua anggota saat ini bekerja paruh waktu tanpa gaji; kontribusi berbentuk keahlian dan waktu. Equity dikuatkan secara legal sebelum revenue atau investor masuk.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7552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Milestones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8321040" cy="0"/>
          </a:xfrm>
          <a:prstGeom prst="line">
            <a:avLst/>
          </a:prstGeom>
          <a:noFill/>
          <a:ln w="9525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76272"/>
            <a:ext cx="7680960" cy="0"/>
          </a:xfrm>
          <a:prstGeom prst="line">
            <a:avLst/>
          </a:prstGeom>
          <a:noFill/>
          <a:ln w="19050">
            <a:solidFill>
              <a:srgbClr val="1E2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84832"/>
            <a:ext cx="182880" cy="182880"/>
          </a:xfrm>
          <a:prstGeom prst="ellipse">
            <a:avLst/>
          </a:prstGeom>
          <a:solidFill>
            <a:srgbClr val="2A3F5A"/>
          </a:solidFill>
          <a:ln w="19050">
            <a:solidFill>
              <a:srgbClr val="3A55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0" y="804672"/>
            <a:ext cx="1828800" cy="1261872"/>
          </a:xfrm>
          <a:prstGeom prst="roundRect">
            <a:avLst>
              <a:gd name="adj" fmla="val 8696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-64008" y="87782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-64008" y="10972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-45720" y="131673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modul &amp; database selesai. FastAPI + Tauri stabil. Arsitektur multi-DB production-ready.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7240" y="2066544"/>
            <a:ext cx="0" cy="109728"/>
          </a:xfrm>
          <a:prstGeom prst="line">
            <a:avLst/>
          </a:prstGeom>
          <a:noFill/>
          <a:ln w="12700">
            <a:solidFill>
              <a:srgbClr val="1E2D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084832"/>
            <a:ext cx="182880" cy="18288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267712"/>
            <a:ext cx="0" cy="128016"/>
          </a:xfrm>
          <a:prstGeom prst="line">
            <a:avLst/>
          </a:prstGeom>
          <a:noFill/>
          <a:ln w="12700">
            <a:solidFill>
              <a:srgbClr val="1E2D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2395728"/>
            <a:ext cx="1828800" cy="1261872"/>
          </a:xfrm>
          <a:prstGeom prst="roundRect">
            <a:avLst>
              <a:gd name="adj" fmla="val 8696"/>
            </a:avLst>
          </a:prstGeom>
          <a:solidFill>
            <a:srgbClr val="0D1628"/>
          </a:solidFill>
          <a:ln w="12700">
            <a:solidFill>
              <a:srgbClr val="2DD4B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76272" y="24688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76272" y="268833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Finalisasi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290779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dashboard &amp; insight, pelengkapan fitur, development security key &amp; sistem lisensi, persiapan deployment.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57800" y="2084832"/>
            <a:ext cx="182880" cy="182880"/>
          </a:xfrm>
          <a:prstGeom prst="ellipse">
            <a:avLst/>
          </a:prstGeom>
          <a:solidFill>
            <a:srgbClr val="2A3F5A"/>
          </a:solidFill>
          <a:ln w="19050">
            <a:solidFill>
              <a:srgbClr val="3A55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804672"/>
            <a:ext cx="1828800" cy="1261872"/>
          </a:xfrm>
          <a:prstGeom prst="roundRect">
            <a:avLst>
              <a:gd name="adj" fmla="val 8696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07992" y="87782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 Juli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07992" y="10972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26280" y="131673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selesai. Pengguna pertama mulai menggunakan. Onboarding pilot terbatas 5–10 UMKM.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49240" y="2066544"/>
            <a:ext cx="0" cy="109728"/>
          </a:xfrm>
          <a:prstGeom prst="line">
            <a:avLst/>
          </a:prstGeom>
          <a:noFill/>
          <a:ln w="12700">
            <a:solidFill>
              <a:srgbClr val="1E2D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2084832"/>
            <a:ext cx="182880" cy="182880"/>
          </a:xfrm>
          <a:prstGeom prst="ellipse">
            <a:avLst/>
          </a:prstGeom>
          <a:solidFill>
            <a:srgbClr val="2A3F5A"/>
          </a:solidFill>
          <a:ln w="19050">
            <a:solidFill>
              <a:srgbClr val="3A55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2267712"/>
            <a:ext cx="0" cy="128016"/>
          </a:xfrm>
          <a:prstGeom prst="line">
            <a:avLst/>
          </a:prstGeom>
          <a:noFill/>
          <a:ln w="12700">
            <a:solidFill>
              <a:srgbClr val="1E2D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2395728"/>
            <a:ext cx="1828800" cy="1261872"/>
          </a:xfrm>
          <a:prstGeom prst="roundRect">
            <a:avLst>
              <a:gd name="adj" fmla="val 8696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48272" y="246888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Agustus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48272" y="268833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66560" y="290779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 publik resmi. Distribusi license key. Kampanye akuisisi. Target 500 user bulan pertama.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3794760"/>
            <a:ext cx="4069080" cy="914400"/>
          </a:xfrm>
          <a:prstGeom prst="roundRect">
            <a:avLst>
              <a:gd name="adj" fmla="val 12000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385876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– Q1 2027 · Growth &amp; Community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41148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reseller &amp; mitra UMKM. Integrasi marketplace (Tokopedia, Shopee) untuk order sync. Target 5.000 user aktif berbayar.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794760"/>
            <a:ext cx="4069080" cy="914400"/>
          </a:xfrm>
          <a:prstGeom prst="roundRect">
            <a:avLst>
              <a:gd name="adj" fmla="val 12000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385876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ke atas · Enterprise &amp; Regional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41148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ke segmen enterprise kecil. Potensi whitespace regional ASEAN (Malaysia, Vietnam) dengan produk yang sama.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818CF8">
              <a:alpha val="7000"/>
            </a:srgbClr>
          </a:solidFill>
          <a:ln w="12700">
            <a:solidFill>
              <a:srgbClr val="050B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32004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Partnership · Genesis.ceo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Bangun Bersama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LOQA bukan sekadar aplikasi — ini infrastruktur kecerdasan bisnis yang akhirnya bisa dijangkau seluruh UMKM Indonesia.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176272"/>
            <a:ext cx="6949440" cy="1325880"/>
          </a:xfrm>
          <a:prstGeom prst="roundRect">
            <a:avLst>
              <a:gd name="adj" fmla="val 8276"/>
            </a:avLst>
          </a:prstGeom>
          <a:solidFill>
            <a:srgbClr val="0D1628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22494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Kami Cari dari Advisor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560320"/>
            <a:ext cx="6309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&amp; akses ke ekosistem investor dan komunitas startup Indonesia</a:t>
            </a:r>
            <a:endParaRPr lang="en-US" sz="950" dirty="0"/>
          </a:p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strategi GTM, product-market fit, dan skalabilitas bisnis</a:t>
            </a:r>
            <a:endParaRPr lang="en-US" sz="950" dirty="0"/>
          </a:p>
          <a:p>
            <a:pPr marL="127000" indent="-127000">
              <a:lnSpc>
                <a:spcPct val="160000"/>
              </a:lnSpc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dari founder berpengalaman untuk memperkuat kepercayaan calon pengguna &amp; mitra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5780" y="361188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Sudah Berjalan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83180" y="361188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318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Juni 2026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40580" y="361188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058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Agustus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97980" y="361188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798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Target: Rp 24 Miliar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3968496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0D1628"/>
          </a:solidFill>
          <a:ln w="12700">
            <a:solidFill>
              <a:srgbClr val="1E2D47">
                <a:alpha val="22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0233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FastAPI (Python) · Next.js 14 · Tauri Framework · llama-cpp-python · ChromaDB · SQLite · sentence-transformers · Tailwind CSS · TypeScript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4626864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hsbdeveloper97@gmail.com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LOQA — Advisory Partnership Proposal</dc:title>
  <dc:subject>PptxGenJS Presentation</dc:subject>
  <dc:creator>M. Hasbi Ashshiddieqy</dc:creator>
  <cp:lastModifiedBy>M. Hasbi Ashshiddieqy</cp:lastModifiedBy>
  <cp:revision>1</cp:revision>
  <dcterms:created xsi:type="dcterms:W3CDTF">2026-06-03T05:05:00Z</dcterms:created>
  <dcterms:modified xsi:type="dcterms:W3CDTF">2026-06-03T05:05:00Z</dcterms:modified>
</cp:coreProperties>
</file>